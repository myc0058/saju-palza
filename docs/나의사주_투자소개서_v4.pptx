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29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233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0" cy="429768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56032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命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運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58368" y="2487168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58368" y="3602736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命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719072" y="502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나의 사주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719072" y="1444752"/>
            <a:ext cx="2377440" cy="274320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99999"/>
                </a:solidFill>
              </a:rPr>
              <a:t>초개인화 사주팔자 플랫폼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19072" y="1874520"/>
            <a:ext cx="265176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9072" y="1965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당신이 살아온 이야기로</a:t>
            </a:r>
            <a:endParaRPr lang="en-US" sz="1250" dirty="0"/>
          </a:p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가장 정확한 사주를 만든다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719072" y="2999232"/>
            <a:ext cx="26517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30723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3조원+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072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국내 시장 규모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19072" y="3547872"/>
            <a:ext cx="26517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역산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출생시각 보정 기술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19072" y="4096512"/>
            <a:ext cx="2651760" cy="0"/>
          </a:xfrm>
          <a:prstGeom prst="line">
            <a:avLst/>
          </a:prstGeom>
          <a:noFill/>
          <a:ln w="6350">
            <a:solidFill>
              <a:srgbClr val="1C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9072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명리학 업계의 ~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-109728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9000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八</a:t>
            </a:r>
            <a:endParaRPr lang="en-US" sz="29000" dirty="0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666666"/>
                </a:solidFill>
              </a:rPr>
              <a:t>Investor Brief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</a:rPr>
              <a:t>2026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</a:rPr>
              <a:t>1 / 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정의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6666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83210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국내 사주·운세 시장 규모  3조원+  —  그러나 서비스의 구조적 결함으로 인해 대부분이 1회성 소비에 그친다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3886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600200"/>
            <a:ext cx="3886200" cy="54864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61288" y="17099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1회성 소비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" y="20756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</a:rPr>
              <a:t>운세 확인 후 재방문 동기 없음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</a:rPr>
              <a:t>고객 유지율 극히 낮은 구조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600200"/>
            <a:ext cx="3886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600200"/>
            <a:ext cx="3886200" cy="54864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67528" y="17099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통계적 평균 해석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67528" y="20756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</a:rPr>
              <a:t>같은 날 태어난 사람 = 동일 해석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</a:rPr>
              <a:t>개인 맥락이 전혀 반영되지 않음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3886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200400"/>
            <a:ext cx="3886200" cy="54864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61288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부정확한 입력값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" y="36758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</a:rPr>
              <a:t>출생 시각 불명확으로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</a:rPr>
              <a:t>근본적 오류가 발생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3200400"/>
            <a:ext cx="3886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200400"/>
            <a:ext cx="3886200" cy="54864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67528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검증 구조 부재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67528" y="36758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</a:rPr>
              <a:t>예측의 맞고 틀림을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</a:rPr>
              <a:t>확인·보정할 수 있는 구조 없음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5010912"/>
            <a:ext cx="91440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50474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나의 사주  ·  Confidential  ·  2026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046720" y="50474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2 / 8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— 동작 원리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6666"/>
                </a:solidFill>
              </a:rPr>
              <a:t>How It Works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8321040" cy="53035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"당신이 실제로 겪은 인생 데이터로 사주를 보정(calibration)한다"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81328"/>
            <a:ext cx="2606040" cy="457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33272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기본 사주 생성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233172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031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생년월일시로 사주팔자 계산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대운·세운 흐름 도출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44952" y="198424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64408" y="1481328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1481328"/>
            <a:ext cx="2606040" cy="457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86200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인생 이벤트 수집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01568" y="2029968"/>
            <a:ext cx="233172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1031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타임라인 형태로 입력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재물·관계·건강·명예·환경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97880" y="198424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17336" y="1481328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1481328"/>
            <a:ext cx="2606040" cy="457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39128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수치화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4496" y="2029968"/>
            <a:ext cx="233172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1031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이벤트를 -1.0~+1.0으로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도메인별 수치 변환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145536"/>
            <a:ext cx="260604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145536"/>
            <a:ext cx="2606040" cy="457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33272" y="3236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사주 보정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3694176"/>
            <a:ext cx="233172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7673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예측값 vs 실제 경험 대조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오행·십성 가중치 개인화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44952" y="3648456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64408" y="3145536"/>
            <a:ext cx="260604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64408" y="3145536"/>
            <a:ext cx="2606040" cy="457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886200" y="3236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개인화 해석 출력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01568" y="3694176"/>
            <a:ext cx="233172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37673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개인 패턴 기반의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맞춤형 운세 해석 제공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97880" y="3648456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17336" y="3145536"/>
            <a:ext cx="260604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17336" y="3145536"/>
            <a:ext cx="2606040" cy="457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739128" y="3236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피드백 루프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54496" y="3694176"/>
            <a:ext cx="233172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37673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이벤트 누적 → 정밀화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Lock-in 자연 발생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4800600"/>
            <a:ext cx="8321040" cy="201168"/>
          </a:xfrm>
          <a:prstGeom prst="rect">
            <a:avLst/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</a:rPr>
              <a:t>일반 서비스: "2024년은 편재운으로 재물 기회가 있습니다"  →  나의 사주: "당신의 편재운 발현 이력과 2020년 관살 충돌 패턴을 고려해 하반기 리스크 관리를 권장합니다"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5010912"/>
            <a:ext cx="91440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50474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나의 사주  ·  Confidential  ·  2026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046720" y="50474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3 / 8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기술 — 출생시각 역산 &amp; 불일치 보정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6666"/>
                </a:solidFill>
              </a:rPr>
              <a:t>Core Technology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4023360" cy="4096512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96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출생시각 역산 엔진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666666"/>
                </a:solidFill>
              </a:rPr>
              <a:t>PATENT PENDING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94360" y="1463040"/>
            <a:ext cx="3611880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572768"/>
            <a:ext cx="361188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93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666666"/>
                </a:solidFill>
              </a:rPr>
              <a:t>기존 관점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77393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</a:rPr>
              <a:t>"사주가 틀렸다" → 해석 모델 보정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139696"/>
            <a:ext cx="3611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762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666666"/>
                </a:solidFill>
              </a:rPr>
              <a:t>새로운 관점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31520" y="234086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80808"/>
                </a:solidFill>
              </a:rPr>
              <a:t>"입력값이 부정확하다" → 생년월일시 역산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2724912"/>
            <a:ext cx="3611880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9806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탐색 알고리즘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090672"/>
            <a:ext cx="3611880" cy="27432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오전 09시 巳時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3163824"/>
            <a:ext cx="475488" cy="12801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30906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40%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429000"/>
            <a:ext cx="3611880" cy="27432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오전 11시 午時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3502152"/>
            <a:ext cx="713232" cy="12801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34290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60%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39112" y="3429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66666"/>
                </a:solidFill>
              </a:rPr>
              <a:t>유저 주장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94360" y="3767328"/>
            <a:ext cx="3611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767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80808"/>
                </a:solidFill>
              </a:rPr>
              <a:t>오후 01시 未時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68880" y="3840480"/>
            <a:ext cx="950976" cy="128016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0752" y="37673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80808"/>
                </a:solidFill>
              </a:rPr>
              <a:t>80%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28088" y="3770735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66666"/>
                </a:solidFill>
              </a:rPr>
              <a:t>채택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94360" y="41605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99999"/>
                </a:solidFill>
              </a:rPr>
              <a:t>이벤트 30개 이상 축적 시 → 출생시각 역산 가능 수준 도달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804672"/>
            <a:ext cx="4023360" cy="4096512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896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불일치 = 가장 중요한 보정 데이터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1298448"/>
            <a:ext cx="3611880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1417320"/>
            <a:ext cx="3611880" cy="804672"/>
          </a:xfrm>
          <a:prstGeom prst="rect">
            <a:avLst/>
          </a:prstGeom>
          <a:solidFill>
            <a:srgbClr val="222222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14813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999999"/>
                </a:solidFill>
              </a:rPr>
              <a:t>Type A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6072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방향 불일치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0" y="17190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예측 길 → 실제 흉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0" y="1938528"/>
            <a:ext cx="3337560" cy="0"/>
          </a:xfrm>
          <a:prstGeom prst="line">
            <a:avLst/>
          </a:prstGeom>
          <a:noFill/>
          <a:ln w="5080">
            <a:solidFill>
              <a:srgbClr val="3D3D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19842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</a:rPr>
              <a:t>→ 십성별 도메인 가중치 재조정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92040" y="2331720"/>
            <a:ext cx="3611880" cy="804672"/>
          </a:xfrm>
          <a:prstGeom prst="rect">
            <a:avLst/>
          </a:prstGeom>
          <a:solidFill>
            <a:srgbClr val="222222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23957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999999"/>
                </a:solidFill>
              </a:rPr>
              <a:t>Type B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60720" y="2377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강도 불일치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9200" y="26334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소폭 예측 → 극단 발현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29200" y="2852928"/>
            <a:ext cx="3337560" cy="0"/>
          </a:xfrm>
          <a:prstGeom prst="line">
            <a:avLst/>
          </a:prstGeom>
          <a:noFill/>
          <a:ln w="5080">
            <a:solidFill>
              <a:srgbClr val="3D3D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28986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</a:rPr>
              <a:t>→ intensity_multiplier 개인 보정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92040" y="3246120"/>
            <a:ext cx="3611880" cy="804672"/>
          </a:xfrm>
          <a:prstGeom prst="rect">
            <a:avLst/>
          </a:prstGeom>
          <a:solidFill>
            <a:srgbClr val="222222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33101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999999"/>
                </a:solidFill>
              </a:rPr>
              <a:t>Type C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760720" y="3291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시점 불일치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0" y="35478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2021 예측 → 2023 발현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029200" y="3767328"/>
            <a:ext cx="3337560" cy="0"/>
          </a:xfrm>
          <a:prstGeom prst="line">
            <a:avLst/>
          </a:prstGeom>
          <a:noFill/>
          <a:ln w="5080">
            <a:solidFill>
              <a:srgbClr val="3D3D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8130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</a:rPr>
              <a:t>→ lag_offset = +1.3년 자동 적용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92040" y="4187952"/>
            <a:ext cx="3611880" cy="0"/>
          </a:xfrm>
          <a:prstGeom prst="line">
            <a:avLst/>
          </a:prstGeom>
          <a:noFill/>
          <a:ln w="5080">
            <a:solidFill>
              <a:srgbClr val="3D3D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42519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</a:rPr>
              <a:t>재물 정확도 71%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92040" y="44622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</a:rPr>
              <a:t>명예 정확도 89%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92040" y="46725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</a:rPr>
              <a:t>관계 정확도 45% ← 신뢰도 낮음 고지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5010912"/>
            <a:ext cx="91440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50474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나의 사주  ·  Confidential  ·  2026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046720" y="50474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4 / 8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수익 모델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6666"/>
                </a:solidFill>
              </a:rPr>
              <a:t>Revenue Model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832104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66666"/>
                </a:solidFill>
              </a:rPr>
              <a:t>핵심 변동비 = LLM API output 토큰  →  해석 횟수 기반 과금으로 비용과 수익을 정렬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999999"/>
                </a:solidFill>
              </a:rPr>
              <a:t>USER TYPES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536192"/>
            <a:ext cx="2633472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62763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69848" y="1627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일상 소비형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" y="18928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</a:rPr>
              <a:t>오늘 운세만 알려줘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69848" y="2121408"/>
            <a:ext cx="1810512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21762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</a:rPr>
              <a:t>→ 구독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1536192"/>
            <a:ext cx="2633472" cy="10789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62763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22776" y="1627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정밀 탐구형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22776" y="18928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99999"/>
                </a:solidFill>
              </a:rPr>
              <a:t>내 사주를 완성하고 싶어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22776" y="2121408"/>
            <a:ext cx="1810512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22776" y="21762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CCCCC"/>
                </a:solidFill>
              </a:rPr>
              <a:t>→ 크레딧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17336" y="1536192"/>
            <a:ext cx="2633472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62763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決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75704" y="1627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이벤트 드리븐형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75704" y="18928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</a:rPr>
              <a:t>결혼·창업 앞두고 보러 왔어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75704" y="2121408"/>
            <a:ext cx="1810512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21762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</a:rPr>
              <a:t>→ 단건 고가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2761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999999"/>
                </a:solidFill>
              </a:rPr>
              <a:t>REVENUE LAYERS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" y="2980944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9496" y="30540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999999"/>
                </a:solidFill>
              </a:rPr>
              <a:t>L1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9496" y="32735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" y="3593592"/>
            <a:ext cx="164592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36576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666666"/>
                </a:solidFill>
              </a:rPr>
              <a:t>라이트  ₩3,900/월  —  일일 운세 30일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39496" y="39593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666666"/>
                </a:solidFill>
              </a:rPr>
              <a:t>스탠다드  ₩9,900/월  —  운세 + 이벤트 10건/월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39496" y="4626864"/>
            <a:ext cx="1645920" cy="201168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일상 소비형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14600" y="2980944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42616" y="30540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999999"/>
                </a:solidFill>
              </a:rPr>
              <a:t>L2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42616" y="32735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크레딧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42616" y="3593592"/>
            <a:ext cx="164592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42616" y="36576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666666"/>
                </a:solidFill>
              </a:rPr>
              <a:t>이벤트 팩  ₩4,900  —  이벤트 20건 + 보정 1회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642616" y="39593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666666"/>
                </a:solidFill>
              </a:rPr>
              <a:t>심층 분석권  ₩9,900  —  인생 타임라인 종합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642616" y="426110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666666"/>
                </a:solidFill>
              </a:rPr>
              <a:t>역산 보정권  ₩14,900  —  출생시각 역산 1회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2642616" y="4626864"/>
            <a:ext cx="1645920" cy="201168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42616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정밀 탐구형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17720" y="2980944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45736" y="30540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999999"/>
                </a:solidFill>
              </a:rPr>
              <a:t>L3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45736" y="32735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프리미엄 원샷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45736" y="3593592"/>
            <a:ext cx="164592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45736" y="36576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666666"/>
                </a:solidFill>
              </a:rPr>
              <a:t>인생 전환점 리포트  ₩29,900~49,900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745736" y="39593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666666"/>
                </a:solidFill>
              </a:rPr>
              <a:t>결혼·창업·이직 앞두고 심층 컨설팅형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4745736" y="4626864"/>
            <a:ext cx="1645920" cy="201168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45736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이벤트 드리븐형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720840" y="2980944"/>
            <a:ext cx="1901952" cy="192024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848856" y="30540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999999"/>
                </a:solidFill>
              </a:rPr>
              <a:t>L4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48856" y="32735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역술가 B2B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48856" y="3593592"/>
            <a:ext cx="1645920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48856" y="36576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999999"/>
                </a:solidFill>
              </a:rPr>
              <a:t>스타터  ₩29,000/월  —  고객 50명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6848856" y="39593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999999"/>
                </a:solidFill>
              </a:rPr>
              <a:t>프로  ₩79,000/월  —  고객 무제한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6848856" y="426110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999999"/>
                </a:solidFill>
              </a:rPr>
              <a:t>비즈니스  ₩149,000/월  —  팀 운영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6848856" y="4626864"/>
            <a:ext cx="1645920" cy="2011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48856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</a:rPr>
              <a:t>공급자 수익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0" y="5010912"/>
            <a:ext cx="91440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50474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나의 사주  ·  Confidential  ·  2026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046720" y="50474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5 / 8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커뮤니티 전략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6666"/>
                </a:solidFill>
              </a:rPr>
              <a:t>Community &amp; Flywheel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8321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유저의 팁 공유  =  서비스 정확도를 높이는 데이터 레이블링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666666"/>
                </a:solidFill>
              </a:rPr>
              <a:t>FLYWHEEL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3474720" cy="438912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유저 증가 → 팁 누적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13432"/>
            <a:ext cx="3474720" cy="438912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134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팁 누적 → 방법론 정교화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752344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3474720" cy="438912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077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정교화 → 신규 진입 장벽↓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346704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502152"/>
            <a:ext cx="3474720" cy="438912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021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진입 장벽↓ → 유저 더 증가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160520"/>
            <a:ext cx="3474720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062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경쟁사가 따라오기 어려워짐 — 집단지성이 곧 해자(moat)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87952" y="1463040"/>
            <a:ext cx="0" cy="3438144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666666"/>
                </a:solidFill>
              </a:rPr>
              <a:t>TIP EXAMPLES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370832" y="1737360"/>
            <a:ext cx="4361688" cy="566928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17922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666666"/>
                </a:solidFill>
              </a:rPr>
              <a:t>이벤트 입력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26280" y="195681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CCCCCC"/>
                </a:solidFill>
              </a:rPr>
              <a:t>"사업 실패를 준비기·절정기·마무리기 3개로 나눠 입력했더니 대운과 훨씬 잘 맞았다"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70832" y="2423160"/>
            <a:ext cx="4361688" cy="566928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4780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666666"/>
                </a:solidFill>
              </a:rPr>
              <a:t>수치 기준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26280" y="264261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CCCCCC"/>
                </a:solidFill>
              </a:rPr>
              <a:t>"감정 기억이 아닌 실질적 영향 기준으로 매겨야 함. 슬펐어도 결과가 좋으면 플러스로"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70832" y="3108960"/>
            <a:ext cx="4361688" cy="566928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31638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666666"/>
                </a:solidFill>
              </a:rPr>
              <a:t>역산 활용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26280" y="332841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CCCCCC"/>
                </a:solidFill>
              </a:rPr>
              <a:t>"산모수첩을 찾아 정확한 시각을 입력했더니 보정 정확도가 확 올라갔다"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70832" y="3794760"/>
            <a:ext cx="4361688" cy="566928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38496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666666"/>
                </a:solidFill>
              </a:rPr>
              <a:t>해석 읽기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26280" y="401421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CCCCCC"/>
                </a:solidFill>
              </a:rPr>
              <a:t>"영역별 신뢰도를 다르게 봐야 함. 관계운은 나한테 잘 안 맞더라"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70832" y="4480560"/>
            <a:ext cx="43616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544568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99999"/>
                </a:solidFill>
              </a:rPr>
              <a:t>· 사주 코치 탄생 (파워유저 유료 연결)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70832" y="4700016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99999"/>
                </a:solidFill>
              </a:rPr>
              <a:t>· 집단 수치 가이드 → 온보딩 이탈률 감소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70832" y="4855464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99999"/>
                </a:solidFill>
              </a:rPr>
              <a:t>· 성공 후기 바이럴 → 광고 대체 효과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5010912"/>
            <a:ext cx="91440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50474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나의 사주  ·  Confidential  ·  2026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46720" y="50474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6 / 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시장 진입 전략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6666"/>
                </a:solidFill>
              </a:rPr>
              <a:t>Go-to-Market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4041648" cy="409651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96112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역술가 채널 — B2B2C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역술가 1명 LTV  =  일반 유저 수백 명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517904"/>
            <a:ext cx="3675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7373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4592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역술가 도입 — 고객에게 앱 설치 권유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0" cy="256032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26771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7627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상담 전 이벤트 입력 → 역술가 태블릿 확인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2450592"/>
            <a:ext cx="0" cy="256032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79806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06624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상담 후 손님 앱에 히스토리 저장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2980944"/>
            <a:ext cx="0" cy="256032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328416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3697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손님의 일상 앱 사용 → Lock-in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794760"/>
            <a:ext cx="3675888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5876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666666"/>
                </a:solidFill>
              </a:rPr>
              <a:t>포지셔닝 원칙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"AI가 사주를 본다"  ✗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"역술가의 능력을 더 잘 발휘하게 해주는 도구"  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804672"/>
            <a:ext cx="4023360" cy="4096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896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K-Culture 서양권 진입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1234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이미 시장이 열려 있다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1517904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700784"/>
            <a:ext cx="128016" cy="128016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162763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여행 후 앱으로 연결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1865376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"You got your saju read in Seoul.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Now continue the journey."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92040" y="2368296"/>
            <a:ext cx="128016" cy="128016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229514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K-드라마 팬 공략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38928" y="2532888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드라마 속 사주 장면 → 영어 콘텐츠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→ 서비스 자연 유입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92040" y="3035808"/>
            <a:ext cx="128016" cy="128016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2962656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K-팝 아이돌 사주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38928" y="320040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팬덤 서브컬처로 이미 존재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입문 콘텐츠로 활용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92040" y="3703320"/>
            <a:ext cx="128016" cy="128016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363016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역방향 관광 연계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38928" y="3867912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앱 유저 → 한국 점집 방문 패키지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</a:rPr>
              <a:t>K-관광 콘텐츠 가치 창출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92040" y="434340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407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</a:rPr>
              <a:t>서양 점성술 유저 수억 명 → "Western astrology vs Korean Saju" 비교 콘텐츠로 자연 유입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5010912"/>
            <a:ext cx="91440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50474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나의 사주  ·  Confidential  ·  2026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046720" y="50474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7 / 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성장 로드맵 &amp; 최종 비전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6666"/>
                </a:solidFill>
              </a:rPr>
              <a:t>Roadmap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084832"/>
            <a:ext cx="832104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13232"/>
            <a:ext cx="1572768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4980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PHASE 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국내 런칭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61288" y="1335024"/>
            <a:ext cx="0" cy="64008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1993392"/>
            <a:ext cx="182880" cy="182880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</a:rPr>
              <a:t>Year 1–2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245059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80808"/>
                </a:solidFill>
              </a:rPr>
              <a:t>Data Foundation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2843784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43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일반 유저 서비스 오픈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29900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이벤트 수치화 고도화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3337560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32369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커뮤니티 초기 운영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3584448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3483864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역술가 수요 검증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48840" y="713232"/>
            <a:ext cx="157276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74980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100" dirty="0">
                <a:solidFill>
                  <a:srgbClr val="999999"/>
                </a:solidFill>
              </a:rPr>
              <a:t>PHASE 1.5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240280" y="9144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역술가 도구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98648" y="1335024"/>
            <a:ext cx="0" cy="64008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07208" y="199339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22677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999999"/>
                </a:solidFill>
              </a:rPr>
              <a:t>조건부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148840" y="245059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99999"/>
                </a:solidFill>
              </a:rPr>
              <a:t>B2B Light (파트너 50명+)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48840" y="2843784"/>
            <a:ext cx="91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95144" y="2743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99999"/>
                </a:solidFill>
              </a:rPr>
              <a:t>역술가 전용 대시보드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48840" y="3090672"/>
            <a:ext cx="91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95144" y="29900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99999"/>
                </a:solidFill>
              </a:rPr>
              <a:t>Pro 요금제 오픈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148840" y="3337560"/>
            <a:ext cx="91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95144" y="32369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99999"/>
                </a:solidFill>
              </a:rPr>
              <a:t>오프라인→앱 전환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148840" y="35935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999999"/>
                </a:solidFill>
              </a:rPr>
              <a:t>* 파트너 신청 50명+ 시 착수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749040" y="713232"/>
            <a:ext cx="1572768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74980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PHASE 2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840480" y="9144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해외 런칭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98848" y="1335024"/>
            <a:ext cx="0" cy="64008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7408" y="1993392"/>
            <a:ext cx="182880" cy="182880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22677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</a:rPr>
              <a:t>Year 2–3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749040" y="245059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80808"/>
                </a:solidFill>
              </a:rPr>
              <a:t>Japan · Taiwan · HK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749040" y="2843784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95344" y="2743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국가별 이벤트 캘리브레이션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749040" y="3090672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95344" y="29900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K-Culture 마케팅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749040" y="3337560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95344" y="32369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멀티테넌트(조건부)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40680" y="713232"/>
            <a:ext cx="1572768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32120" y="74980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PHASE 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532120" y="9144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글로벌 확장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90488" y="1335024"/>
            <a:ext cx="0" cy="64008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99048" y="1993392"/>
            <a:ext cx="182880" cy="182880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22677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</a:rPr>
              <a:t>Year 3–5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440680" y="245059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80808"/>
                </a:solidFill>
              </a:rPr>
              <a:t>SEA · West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440680" y="2843784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86984" y="2743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동남아·서양권 진입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440680" y="3090672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86984" y="29900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역방향 관광 연계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440680" y="3337560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86984" y="32369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서양 점성술 병렬수집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086600" y="713232"/>
            <a:ext cx="1572768" cy="62179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78040" y="74980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PHASE 4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7178040" y="9144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 명리학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836408" y="1335024"/>
            <a:ext cx="0" cy="64008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44968" y="1993392"/>
            <a:ext cx="182880" cy="182880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86600" y="22677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</a:rPr>
              <a:t>Year 5+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086600" y="245059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80808"/>
                </a:solidFill>
              </a:rPr>
              <a:t>Data Platform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086600" y="2843784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32904" y="2743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명리학 이론 데이터 갱신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086600" y="3090672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32904" y="29900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학술 발표·오픈 데이터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086600" y="3337560"/>
            <a:ext cx="914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32904" y="32369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인생 패턴 DB 완성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11480" y="4700016"/>
            <a:ext cx="8321040" cy="29260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4700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최종 비전  —  사주 앱  →  역술가 SaaS  →  명리학 업계 인프라  →  인류 인생 패턴 데이터베이스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0" y="5010912"/>
            <a:ext cx="91440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1480" y="50474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나의 사주  ·  Confidential  ·  2026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046720" y="50474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8 / 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Microsoft Office PowerPoint</Application>
  <PresentationFormat>화면 슬라이드 쇼(16:9)</PresentationFormat>
  <Paragraphs>261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나의 사주 — Investor Deck v4</dc:title>
  <dc:subject>PptxGenJS Presentation</dc:subject>
  <dc:creator>PptxGenJS</dc:creator>
  <cp:lastModifiedBy>user</cp:lastModifiedBy>
  <cp:revision>2</cp:revision>
  <dcterms:created xsi:type="dcterms:W3CDTF">2026-02-26T03:17:02Z</dcterms:created>
  <dcterms:modified xsi:type="dcterms:W3CDTF">2026-02-26T03:23:37Z</dcterms:modified>
</cp:coreProperties>
</file>